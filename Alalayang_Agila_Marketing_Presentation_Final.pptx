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e36959512a4a93" /><Relationship Type="http://schemas.openxmlformats.org/officeDocument/2006/relationships/extended-properties" Target="/docProps/app.xml" Id="Rdd1b09ed2ba2420d" /><Relationship Type="http://schemas.openxmlformats.org/officeDocument/2006/relationships/officeDocument" Target="/ppt/presentation.xml" Id="R15257aaf25a74e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df203b78d4bb3"/>
  </p:sldMasterIdLst>
  <p:notesMasterIdLst>
    <p:notesMasterId xmlns:r="http://schemas.openxmlformats.org/officeDocument/2006/relationships" r:id="Rbae90b582a6147be"/>
  </p:notesMasterIdLst>
  <p:sldIdLst>
    <p:sldId xmlns:r="http://schemas.openxmlformats.org/officeDocument/2006/relationships" id="256" r:id="Re5da5e8ddc16452e"/>
    <p:sldId xmlns:r="http://schemas.openxmlformats.org/officeDocument/2006/relationships" id="257" r:id="Rdc64405f24904bf4"/>
    <p:sldId xmlns:r="http://schemas.openxmlformats.org/officeDocument/2006/relationships" id="258" r:id="Rc6ebc3901b6b4b8f"/>
    <p:sldId xmlns:r="http://schemas.openxmlformats.org/officeDocument/2006/relationships" id="259" r:id="Rd3bd823f73b9483b"/>
    <p:sldId xmlns:r="http://schemas.openxmlformats.org/officeDocument/2006/relationships" id="260" r:id="Ra640550a18e44ecd"/>
    <p:sldId xmlns:r="http://schemas.openxmlformats.org/officeDocument/2006/relationships" id="261" r:id="Rd4c7eadc4da34894"/>
    <p:sldId xmlns:r="http://schemas.openxmlformats.org/officeDocument/2006/relationships" id="262" r:id="R25ff1316a30a41f7"/>
    <p:sldId xmlns:r="http://schemas.openxmlformats.org/officeDocument/2006/relationships" id="263" r:id="Rcb18df670f5247f2"/>
    <p:sldId xmlns:r="http://schemas.openxmlformats.org/officeDocument/2006/relationships" id="264" r:id="R9440449dd52548c9"/>
    <p:sldId xmlns:r="http://schemas.openxmlformats.org/officeDocument/2006/relationships" id="265" r:id="R34802a61cae146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96501c0d14ffc" /><Relationship Type="http://schemas.openxmlformats.org/officeDocument/2006/relationships/slideMaster" Target="/ppt/slideMasters/slideMaster1.xml" Id="R55bdf203b78d4bb3" /><Relationship Type="http://schemas.openxmlformats.org/officeDocument/2006/relationships/notesMaster" Target="/ppt/notesMasters/notesMaster1.xml" Id="Rbae90b582a6147be" /><Relationship Type="http://schemas.openxmlformats.org/officeDocument/2006/relationships/presProps" Target="/ppt/presProps.xml" Id="R0ac8a1204bd1483e" /><Relationship Type="http://schemas.openxmlformats.org/officeDocument/2006/relationships/tableStyles" Target="/ppt/tableStyles.xml" Id="R55de677b34f1418a" /><Relationship Type="http://schemas.openxmlformats.org/officeDocument/2006/relationships/slide" Target="/ppt/slides/slide1.xml" Id="Re5da5e8ddc16452e" /><Relationship Type="http://schemas.openxmlformats.org/officeDocument/2006/relationships/slide" Target="/ppt/slides/slide2.xml" Id="Rdc64405f24904bf4" /><Relationship Type="http://schemas.openxmlformats.org/officeDocument/2006/relationships/slide" Target="/ppt/slides/slide3.xml" Id="Rc6ebc3901b6b4b8f" /><Relationship Type="http://schemas.openxmlformats.org/officeDocument/2006/relationships/slide" Target="/ppt/slides/slide4.xml" Id="Rd3bd823f73b9483b" /><Relationship Type="http://schemas.openxmlformats.org/officeDocument/2006/relationships/slide" Target="/ppt/slides/slide5.xml" Id="Ra640550a18e44ecd" /><Relationship Type="http://schemas.openxmlformats.org/officeDocument/2006/relationships/slide" Target="/ppt/slides/slide6.xml" Id="Rd4c7eadc4da34894" /><Relationship Type="http://schemas.openxmlformats.org/officeDocument/2006/relationships/slide" Target="/ppt/slides/slide7.xml" Id="R25ff1316a30a41f7" /><Relationship Type="http://schemas.openxmlformats.org/officeDocument/2006/relationships/slide" Target="/ppt/slides/slide8.xml" Id="Rcb18df670f5247f2" /><Relationship Type="http://schemas.openxmlformats.org/officeDocument/2006/relationships/slide" Target="/ppt/slides/slide9.xml" Id="R9440449dd52548c9" /><Relationship Type="http://schemas.openxmlformats.org/officeDocument/2006/relationships/slide" Target="/ppt/slides/slide10.xml" Id="R34802a61cae146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a3b6387e5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85aa9c165a43c9" /><Relationship Type="http://schemas.openxmlformats.org/officeDocument/2006/relationships/notesMaster" Target="/ppt/notesMasters/notesMaster1.xml" Id="Raac07ad2bd09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740ffd481346bb" /><Relationship Type="http://schemas.openxmlformats.org/officeDocument/2006/relationships/notesMaster" Target="/ppt/notesMasters/notesMaster1.xml" Id="Rfcda6d08f43e4e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99feb72834eba" /><Relationship Type="http://schemas.openxmlformats.org/officeDocument/2006/relationships/notesMaster" Target="/ppt/notesMasters/notesMaster1.xml" Id="Rf70df171cee54d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fdb2c040d34325" /><Relationship Type="http://schemas.openxmlformats.org/officeDocument/2006/relationships/notesMaster" Target="/ppt/notesMasters/notesMaster1.xml" Id="Rd7a6bc433bf14c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f33c5abfb4edd" /><Relationship Type="http://schemas.openxmlformats.org/officeDocument/2006/relationships/notesMaster" Target="/ppt/notesMasters/notesMaster1.xml" Id="R4f4d0a8e39504a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21939c90654eb3" /><Relationship Type="http://schemas.openxmlformats.org/officeDocument/2006/relationships/notesMaster" Target="/ppt/notesMasters/notesMaster1.xml" Id="Rfd61df3031e54e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9d58e239ce4c41" /><Relationship Type="http://schemas.openxmlformats.org/officeDocument/2006/relationships/notesMaster" Target="/ppt/notesMasters/notesMaster1.xml" Id="R5d16491c26934a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5237862c64289" /><Relationship Type="http://schemas.openxmlformats.org/officeDocument/2006/relationships/notesMaster" Target="/ppt/notesMasters/notesMaster1.xml" Id="Raac430602e70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d9665c5fef42fa" /><Relationship Type="http://schemas.openxmlformats.org/officeDocument/2006/relationships/notesMaster" Target="/ppt/notesMasters/notesMaster1.xml" Id="Rbaaeddcf95e849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319fcf42e04f7d" /><Relationship Type="http://schemas.openxmlformats.org/officeDocument/2006/relationships/notesMaster" Target="/ppt/notesMasters/notesMaster1.xml" Id="R54bf45f69581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promise: this is not simply a portal. It is the digital layer that helps the brotherhood communicate, find one another, and respond when service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brand: public/images/logo.png</a:t>
            </a:r>
          </a:p>
          <a:p xmlns:a="http://schemas.openxmlformats.org/drawingml/2006/main">
            <a:r>
              <a:t>- Generated hero artwork: tmp/marketing-deck/hero.png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communication gaps the platform is designed to close. Avoid implying measured failure; this is the strategic problem statement behind the feature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resources/views/dashboard.blade.php</a:t>
            </a:r>
          </a:p>
          <a:p xmlns:a="http://schemas.openxmlformats.org/drawingml/2006/main">
            <a:r>
              <a:t>- resources/views/search_kuya.blade.php</a:t>
            </a:r>
          </a:p>
          <a:p xmlns:a="http://schemas.openxmlformats.org/drawingml/2006/main">
            <a:r>
              <a:t>- resources/views/quick_response.blade.php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bridge from the problem to the product. The platform earns relevance because the modules form a continuous member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routes/web.php</a:t>
            </a:r>
          </a:p>
          <a:p xmlns:a="http://schemas.openxmlformats.org/drawingml/2006/main">
            <a:r>
              <a:t>- resources/views/layouts/app.blade.php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differentiator in the current product: it connects a human request with actionable location context. Keep the language factual—response-time improvement should be measured during a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resources/views/quick_response.blade.php</a:t>
            </a:r>
          </a:p>
          <a:p xmlns:a="http://schemas.openxmlformats.org/drawingml/2006/main">
            <a:r>
              <a:t>- storage/app/public/eaglelogo.png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search and mapping as two sides of discoverability: one begins with identity; the other begins with place and organizational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resources/views/search_kuya.blade.php</a:t>
            </a:r>
          </a:p>
          <a:p xmlns:a="http://schemas.openxmlformats.org/drawingml/2006/main">
            <a:r>
              <a:t>- resources/views/profile/location.blade.php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marketing value here is habit formation. Announcements create reach, chat creates continuity, and reactions/comments make participation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resources/views/announcements/index.blade.php</a:t>
            </a:r>
          </a:p>
          <a:p xmlns:a="http://schemas.openxmlformats.org/drawingml/2006/main">
            <a:r>
              <a:t>- resources/views/chat/index.blade.php</a:t>
            </a:r>
          </a:p>
          <a:p xmlns:a="http://schemas.openxmlformats.org/drawingml/2006/main">
            <a:r>
              <a:t>- database/migrations/2026_04_28_055006_add_reactions_to_messages.php</a:t>
            </a:r>
          </a:p>
          <a:p xmlns:a="http://schemas.openxmlformats.org/drawingml/2006/main">
            <a:r>
              <a:t>- database/migrations/2026_04_28_053956_create_comments_table.php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Trust is a marketing asset. Explain how identity, approval, permissions, and sustainable maintenance make the platform credible for both members and administrators.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routes/web.php</a:t>
            </a:r>
          </a:p>
          <a:p xmlns:a="http://schemas.openxmlformats.org/drawingml/2006/main">
            <a:r>
              <a:t>- resources/views/auth/pending.blade.php</a:t>
            </a:r>
          </a:p>
          <a:p xmlns:a="http://schemas.openxmlformats.org/drawingml/2006/main">
            <a:r>
              <a:t>- database/migrations/2026_04_29_031024_create_access_types_table.php</a:t>
            </a:r>
          </a:p>
          <a:p xmlns:a="http://schemas.openxmlformats.org/drawingml/2006/main">
            <a:r>
              <a:t>- database/migrations/2026_04_29_031031_create_access_type_permissions_table.php</a:t>
            </a:r>
          </a:p>
          <a:p xmlns:a="http://schemas.openxmlformats.org/drawingml/2006/main">
            <a:r>
              <a:t>- resources/views/layouts/app.blade.php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success measures, not reported results. This distinction strengthens credibility and gives marketing a clear measurement brief for the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Recommended measures inferred from the repository’s announcement, help, chat, comment, and profile workflows; no external statistics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a focused pilot rather than a broad launch. The first objective is to build the member habit and capture proof that can power a larger campaign.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Activation recommendation based on the project’s profile, announcement, member search, mapping, chat, and help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decision, not a thank-you. The ask is intentionally modest: approve the pilot, assign ownership, and agree on the evidence needed for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recommendation synthesized from the project feature set; no external claims used.</a:t>
            </a:r>
          </a:p>
          <a:p xmlns:a="http://schemas.openxmlformats.org/drawingml/2006/main">
            <a:r>
              <a:t>- Project brand: public/images/logo.png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c07846b86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1b816490c4007" /><Relationship Type="http://schemas.openxmlformats.org/officeDocument/2006/relationships/slideLayout" Target="/ppt/slideLayouts/slideLayout1.xml" Id="Re270e2ef668b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0e2ef668b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85d161b1f4f77" /><Relationship Type="http://schemas.openxmlformats.org/officeDocument/2006/relationships/image" Target="/ppt/media/image.png" Id="Re2b4ba52413946a0" /><Relationship Type="http://schemas.openxmlformats.org/officeDocument/2006/relationships/image" Target="/ppt/media/image2.png" Id="R5e01050764794e7e" /><Relationship Type="http://schemas.openxmlformats.org/officeDocument/2006/relationships/notesSlide" Target="/ppt/notesSlides/notesSlide1.xml" Id="R84fa02742c4e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af40f4f044e7" /><Relationship Type="http://schemas.openxmlformats.org/officeDocument/2006/relationships/notesSlide" Target="/ppt/notesSlides/notesSlide2.xml" Id="Rd5c07a76a6dd41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c943bdaa84351" /><Relationship Type="http://schemas.openxmlformats.org/officeDocument/2006/relationships/notesSlide" Target="/ppt/notesSlides/notesSlide3.xml" Id="Rf6da6312a96b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a87b9fe5a4a50" /><Relationship Type="http://schemas.openxmlformats.org/officeDocument/2006/relationships/image" Target="/ppt/media/image3.png" Id="R0135b41fda6442ff" /><Relationship Type="http://schemas.openxmlformats.org/officeDocument/2006/relationships/notesSlide" Target="/ppt/notesSlides/notesSlide4.xml" Id="R922d90332a07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381f03e4f4960" /><Relationship Type="http://schemas.openxmlformats.org/officeDocument/2006/relationships/notesSlide" Target="/ppt/notesSlides/notesSlide5.xml" Id="R852991b8d9bd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8b13fb7244b8" /><Relationship Type="http://schemas.openxmlformats.org/officeDocument/2006/relationships/notesSlide" Target="/ppt/notesSlides/notesSlide6.xml" Id="Re33ec08c7f2241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7f8dc1fd24d85" /><Relationship Type="http://schemas.openxmlformats.org/officeDocument/2006/relationships/notesSlide" Target="/ppt/notesSlides/notesSlide7.xml" Id="R03abd876b99f48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1ada49e54f7b" /><Relationship Type="http://schemas.openxmlformats.org/officeDocument/2006/relationships/notesSlide" Target="/ppt/notesSlides/notesSlide8.xml" Id="Rb0c2fa496a364f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904a1585442e5" /><Relationship Type="http://schemas.openxmlformats.org/officeDocument/2006/relationships/notesSlide" Target="/ppt/notesSlides/notesSlide9.xml" Id="R4a63bfad4df847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f1433b3a64de9" /><Relationship Type="http://schemas.openxmlformats.org/officeDocument/2006/relationships/image" Target="/ppt/media/image4.png" Id="Rba2bc90e9fe647f9" /><Relationship Type="http://schemas.openxmlformats.org/officeDocument/2006/relationships/notesSlide" Target="/ppt/notesSlides/notesSlide10.xml" Id="R6fa14abd5df148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4ba52413946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11A76-FFBF-49EB-8548-D749461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1050764794e7e"/>
          <a:stretch xmlns:a="http://schemas.openxmlformats.org/drawingml/2006/main"/>
        </p:blipFill>
        <p:spPr>
          <a:xfrm xmlns:a="http://schemas.openxmlformats.org/drawingml/2006/main">
            <a:off x="5143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4E547-E154-430D-992B-214B2F1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D11A5-00D6-4E77-B624-85677E3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5143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moves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connection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27C08-F080-4BD5-8425-A854D86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member engagement and rapid-response platform for the CaragaDos Eagles Club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DF345-A56E-412E-916E-31F6EA7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MARKETING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914088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9E70F-EB65-43DA-8C03-73CDF3DA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THE MARKETING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5E620-25C1-4CA4-929E-D4FDF2A5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Strong communities can still feel disconnected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558AC-56DE-48B3-858E-464E7BD6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A6C82-D261-4A95-BAAB-E5093F92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The opportunity is to remove friction from the moments that shape member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1F57E-C834-44DF-BA0E-CDD6455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DD558-C463-42B2-A95C-5DED8550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Updates compete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for attention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84825-1E2C-4398-8268-EE146BD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Members need one dependable place for announcements and club activity.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7D65B-9238-4BA3-8899-5CE8F3F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770E8-979B-4812-BA75-50C6CF6C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right Kuya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is hard to find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314825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A102E-B757-4C8E-BC2C-974F5021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Names, clubs, regions, and locations should lead quickly to a real connection.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95698-0236-43D8-9BBC-B7873D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0BB85-A43D-4FB9-BF9D-5CE01EB4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143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Urgent needs lose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critical context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229600" y="42100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E07DE-9B27-4C6F-8512-E3341E6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 request is more actionable when the need, location, and responder network move together.</a:t>
            </a:r>
          </a:p>
        </p:txBody>
      </p:sp>
    </p:spTree>
    <p:extLst>
      <p:ext uri="{BB962C8B-B14F-4D97-AF65-F5344CB8AC3E}">
        <p14:creationId xmlns:p14="http://schemas.microsoft.com/office/powerpoint/2010/main" val="315286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09289-BC72-4EC3-9715-1F018FE5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THE PRODUCT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C833B-B567-4050-B6DA-CB6CA63B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One platform connects the member journey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A5E52-ED01-4E2D-8A74-DABD42B0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B2EF2-7C5F-4E6C-8A7B-76384F6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Every module reinforces the same behavior: stay informed, stay reachable, be ready to serve.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952500" y="35623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1F3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A156-536F-4FFE-8B2D-85E154CF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49B78-CA18-49CE-B624-31A9903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91C6-D588-4FBB-B267-C40B745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CE3BD-3C08-4A31-9DEF-66BD189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Announcements and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club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426C9-AD09-4875-8D11-8E8BEEA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7698E-965C-40D6-8727-36C92006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089DD-FEFE-435C-B2AC-480E26B5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CA472-3C2E-42EE-A0CD-534EE609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Search, mapping,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and group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96396-5376-43A7-938A-62BAAE9C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CD042-DE0C-4D0E-BCAA-2D932F09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851CD-A2B0-458B-A414-2280D06A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Mobilize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220DC-C27F-4B18-A62D-310E24E8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Help request with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location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DC912-81CF-4261-AD25-6AF6293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71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1E7C1-9C08-493B-B976-D3D5B13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96864-A166-422D-A05B-889659E4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43102-E1CC-43F8-BDB4-1C29ABA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958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Faster coordination</a:t>
            </a:r>
          </a:p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and follow-through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3DF68-DE1F-4A1E-896E-497FBB5E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4E870-79B6-4C12-9EC6-B2B09CB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marketing story is the journey—not a list of disconnected features.</a:t>
            </a:r>
          </a:p>
        </p:txBody>
      </p:sp>
    </p:spTree>
    <p:extLst>
      <p:ext uri="{BB962C8B-B14F-4D97-AF65-F5344CB8AC3E}">
        <p14:creationId xmlns:p14="http://schemas.microsoft.com/office/powerpoint/2010/main" val="520724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4002B-C57B-44AD-81F7-773BC12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SIGNATURE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2B46D-BC0B-4283-BDD5-84C93905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help request arrives with the context to act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41764-5A97-4841-8304-8151F6B3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3C7B-5735-4DF6-BD51-BED25EB2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55245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5b41fda6442ff"/>
          <a:stretch xmlns:a="http://schemas.openxmlformats.org/drawingml/2006/main"/>
        </p:blipFill>
        <p:spPr>
          <a:xfrm xmlns:a="http://schemas.openxmlformats.org/drawingml/2006/main">
            <a:off x="7762875" y="2076450"/>
            <a:ext cx="2552700" cy="2552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DE035-A969-46EC-9D8B-66FF3D7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 HELP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F81B7-3F44-4258-BFA2-0769C22A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67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 + details +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84D83-0236-4AA5-B345-52453DE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 member chooses the type of help, explains the situation, and shares current coordinates so other Kuyas can locate the request faster.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84307-14EF-4A7F-AE8D-7A0B78A4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B0B6B-3458-45DC-A13B-976A614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Choose help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555FC-60A8-4A78-BE35-FFF4B67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51093-B412-4172-8D59-B5FDF94B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Describe the situation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2EB44-7A79-411D-9EFA-5F5EBCF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46484-5F93-4401-B95B-5D22949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Attach location context</a:t>
            </a:r>
          </a:p>
        </p:txBody>
      </p:sp>
    </p:spTree>
    <p:extLst>
      <p:ext uri="{BB962C8B-B14F-4D97-AF65-F5344CB8AC3E}">
        <p14:creationId xmlns:p14="http://schemas.microsoft.com/office/powerpoint/2010/main" val="353784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F9805-DE8E-4C19-B319-84851C0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MEMBER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78747-8179-485A-BC68-80FA037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Finding the right Kuya becomes a guided path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BB714-74EA-4E8D-99B8-DE401F1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A66EA-2536-4573-8A8F-14CB73D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Two complementary views turn a directory into a usable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1A69-9A41-4455-ADCA-A4A35719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295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2A83D-72B6-419C-BF37-BE150FD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695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3BB84-6CF8-44E3-B565-4C784075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SEARCH A KUYA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FFE3F-DD95-4FF1-8299-C5B8209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28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Start with a name.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Narrow by the member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information that 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76B2B-0C8D-4CF7-B6B9-8CE66E3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Direct member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AEF05-CAD6-46F5-8C1A-721E321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5B"/>
                </a:solidFill>
                <a:latin typeface="Aptos"/>
                <a:ea typeface="Aptos"/>
                <a:cs typeface="Aptos"/>
              </a:rPr>
              <a:t>KUYA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03D27-16D5-4FD2-929A-31404868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See the network.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Filter by region or club.</a:t>
            </a:r>
          </a:p>
          <a:p xmlns:a="http://schemas.openxmlformats.org/drawingml/2006/main">
            <a:pPr algn="l">
              <a:defRPr sz="24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Focus on a member.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19665-CC31-42C3-A2FF-7AA06DB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95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Geographic connection and reach</a:t>
            </a:r>
          </a:p>
        </p:txBody>
      </p:sp>
    </p:spTree>
    <p:extLst>
      <p:ext uri="{BB962C8B-B14F-4D97-AF65-F5344CB8AC3E}">
        <p14:creationId xmlns:p14="http://schemas.microsoft.com/office/powerpoint/2010/main" val="1849770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2AFD6-12CA-48BA-B664-EA499BA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EVERYDAY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79F7-B24A-418A-B862-6128825C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Everyday utility builds a service-ready habit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84BA9-57BF-4E8F-A80D-846A8234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751DE-59E5-467A-A160-B6E51CF8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Regular utility creates the habit that makes urgent coordination more effective.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63936-FAE1-45AA-8E97-CC86404D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FFE53-3FCF-4CE4-9C63-14D2758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INFORM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8D76-6FCF-460F-AF9D-308E151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Announcements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847A9-3989-4537-BB23-6CA3C96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Publish global, regional, or club updates from one managed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9FAE4-93BF-4554-8188-45B1977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7209-101E-4213-B643-A5DDD28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CONVERSE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3BD69-2C54-4317-AA68-663248E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Club conversations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BB64-D051-4EF6-A3E6-3D565BF2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Keep conversations organized around the groups members already recognize.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0953D-A92A-489B-917E-05B3A9A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3741B-7F9D-4815-B477-F691EA47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5B"/>
                </a:solidFill>
                <a:latin typeface="Aptos"/>
                <a:ea typeface="Aptos"/>
                <a:cs typeface="Aptos"/>
              </a:rPr>
              <a:t>REINFORCE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30313-731A-4A26-914B-4272323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Visible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1B64B-D485-44CE-AC76-44DD377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Turn one-way updates into visible participation and community feedback.</a:t>
            </a:r>
          </a:p>
        </p:txBody>
      </p:sp>
    </p:spTree>
    <p:extLst>
      <p:ext uri="{BB962C8B-B14F-4D97-AF65-F5344CB8AC3E}">
        <p14:creationId xmlns:p14="http://schemas.microsoft.com/office/powerpoint/2010/main" val="71546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846D3-4F1A-4031-998A-4FF0FE9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TRUST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F3F8-0EF6-43EC-9879-751F39B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Access follows the structure of the organization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0CA11-4413-4E8A-ABB7-A1192C58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F8DAE-1D87-4B89-8EA7-1DE624B6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180DF-A752-496E-9F11-FC74FCD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Google sign-in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AB8D4-7DB9-4AB1-AEDD-85894C4D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 familiar entry point reduces friction while keeping access tied to an authenticated account.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DAC12-6027-4215-86D7-9000A4FE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700C6-E9C5-4A43-8392-D48E9E7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52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Member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C3444-C649-4391-A852-EB1E450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670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Pending and profile-completion states help protect the quality of the member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BC5EC-16CD-4B3C-BFF4-652780A9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49EC7-90B5-4EC9-B317-9CFD5CD5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Roles + permissions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48597-C153-4269-94E9-7090C9E4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Access types and per-feature permissions separate what members can view, add, edit, or manage.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02989-DBFB-4BCD-A6FA-50A49B8C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5E4B3-D7BD-441A-91CE-6C8A48F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4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Maintenance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17F55-B963-4061-8857-7DF6576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2525"/>
            <a:ext cx="4905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Subscription controls support hosting and technical upkeep without confusing them with club dues.</a:t>
            </a:r>
          </a:p>
        </p:txBody>
      </p:sp>
    </p:spTree>
    <p:extLst>
      <p:ext uri="{BB962C8B-B14F-4D97-AF65-F5344CB8AC3E}">
        <p14:creationId xmlns:p14="http://schemas.microsoft.com/office/powerpoint/2010/main" val="799683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1553F-E0A5-4946-995C-CB3581F7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MARKETING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3E983-4FFB-48F4-9275-9A09349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Success should be visible in member behavior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673DC-A0A1-480A-BB9F-7DCED7EC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C43B-A15F-45E3-856E-88ACFE4B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Measure adoption around three outcomes the platform is designed to influence.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28A0E-1A83-43E1-95EA-BAFA6BB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D393C-F5D3-4DE8-BE30-9AE85369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E22AD-7529-4C22-BB35-9226CEA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More members see</a:t>
            </a:r>
          </a:p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what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1D1A8-6CC4-42CE-8026-8402AC42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Track: announcement views and active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5B5A5-A4DB-41C1-958C-3C404D72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C6675-924A-434C-AE92-57C9C09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5D48F-27A4-403F-BE63-459C584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members know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do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77059-0D2B-4277-BADE-D962FA03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Track: help requests and coordinated 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DBC9A-D96E-46F8-AEFE-111A0A22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4DFCB-207B-4DF3-94AB-50468650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BELONGING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7D102-FBD6-49C9-906C-19EB63D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More members feel</a:t>
            </a:r>
          </a:p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part of the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CE78C-67E8-463C-B0DA-1C58107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91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Track: chat participation, comments, and profiles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07733-6C4C-43B9-A86B-2D1801E8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No baseline is assumed—pilot measurement turns the product promise into proof.</a:t>
            </a:r>
          </a:p>
        </p:txBody>
      </p:sp>
    </p:spTree>
    <p:extLst>
      <p:ext uri="{BB962C8B-B14F-4D97-AF65-F5344CB8AC3E}">
        <p14:creationId xmlns:p14="http://schemas.microsoft.com/office/powerpoint/2010/main" val="2015657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93ACA-EFC0-4CB0-9CF3-0026B0EE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ACTIVATION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D4F8D-A064-4E56-96F5-7AC5509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Launch the habit before scaling the campaign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763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CAB9A-9ECE-4C3F-B88F-07A5440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34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76300" y="34290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F3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4B073-20FA-45AB-BA46-3AF9D5C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5A43-5FBC-4BB7-B1C2-CEEA24CD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PHASE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87641-C1A2-4185-B8D3-6930E63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E821E-599D-44A3-A4D4-CFE7E6BF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Complete profiles, validate roles, seed announcements, and brief club leaders.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AA317-2EC9-4A3E-9A0F-A9FFDD1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7136B-16CE-4B13-982C-AF031FC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PHASE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1D494-F09B-4237-98E6-00A281D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FEF1C-472D-490A-87DE-37545E7C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Run a focused pilot with weekly content, member discovery, and one response drill.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6FCE0-8A2B-408A-8DFE-845730DF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FFAF6-D166-4457-82BC-94309880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PHASE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1EB7D-7DFD-4E5D-BA34-9D29E1CF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Prove +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50BBB-DC22-46FF-B019-4833F79C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80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Review adoption signals, capture member stories, refine onboarding, then expand.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D7A54-0A3F-4DCF-9BCB-DB2EC65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218E5-FD7C-42CA-9808-5E9C1E0F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Recommended first campaign: “Know your network. Be ready to serve.”</a:t>
            </a:r>
          </a:p>
        </p:txBody>
      </p:sp>
    </p:spTree>
    <p:extLst>
      <p:ext uri="{BB962C8B-B14F-4D97-AF65-F5344CB8AC3E}">
        <p14:creationId xmlns:p14="http://schemas.microsoft.com/office/powerpoint/2010/main" val="558788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bc90e9fe647f9"/>
          <a:stretch xmlns:a="http://schemas.openxmlformats.org/drawingml/2006/main"/>
        </p:blipFill>
        <p:spPr>
          <a:xfrm xmlns:a="http://schemas.openxmlformats.org/drawingml/2006/main">
            <a:off x="514350" y="4191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2A064-287E-4A03-A3F5-76C6BE79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CDE14-92B1-41C9-9042-31F3A8F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8477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focused pilot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makes service feel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tap away.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14350" y="47244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8506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DBD3D-669A-4BD3-99F8-72817D1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40917-20FD-4E68-9FF0-A20CA4DB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D3387-DA70-4073-BA1C-BAD1F23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Select representative clubs and leaders.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DDD43-99E4-476C-85F9-F59F59A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9B82D-329E-4214-838A-7EC956F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6D278-4F9B-4DC7-90C1-E327F0F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Assign a clear announcement and campaign rhythm.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85E15-4811-4960-B0AA-8F0F13A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DD716-59AA-43F0-ADBD-F2917FF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Success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4B14A-A2FE-4C3E-949A-5D1B1771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DF"/>
                </a:solidFill>
                <a:latin typeface="Aptos"/>
                <a:ea typeface="Aptos"/>
                <a:cs typeface="Aptos"/>
              </a:rPr>
              <a:t>Agree on reach, action, and belonging measures.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D2044-0B5B-4B24-B96C-D4D30EE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9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928"/>
                </a:solidFill>
                <a:latin typeface="Aptos"/>
                <a:ea typeface="Aptos"/>
                <a:cs typeface="Aptos"/>
              </a:rPr>
              <a:t>ALALAYANG AGILA • CARAGADOS EAGLES CLUB</a:t>
            </a:r>
          </a:p>
        </p:txBody>
      </p:sp>
    </p:spTree>
    <p:extLst>
      <p:ext uri="{BB962C8B-B14F-4D97-AF65-F5344CB8AC3E}">
        <p14:creationId xmlns:p14="http://schemas.microsoft.com/office/powerpoint/2010/main" val="738486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2026-08-14T05:37:24.5900000Z</dcterms:created>
  <dcterms:modified xsi:type="dcterms:W3CDTF">2026-08-14T05:37:24.5900000Z</dcterms:modified>
</coreProperties>
</file>