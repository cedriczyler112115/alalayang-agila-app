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esteemed leaders. Today, I am presenting the Alalayang Agila Platform—our strategic initiative to digitize member services and streamline emergency dispatch across the Fraternal Order of Eagles. This presentation outlines how this platform transforms member safety and operational governance while remaining fiscally self-sustaining.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when a Kuya experiences an emergency in the field, response time is throttled by manual messaging chains and unverified contact lists. Furthermore, verifying official regional or club credentials takes unnecessary administrative time. Alalayang Agila solves these systemic delays directly at the system architecture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Alalayang Agila acts as our central nerve center. When a member requests help, our automated backend triggers instant multi-channel broadcasts to local emergency teams within seconds, attaching exact GPS locations and verified profile metadata.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features cover both daily operations and urgent crisis handling. From looking up a Kuya’s professional background in another region to broadcasting club-specific announcements, the platform gives leadership total operational visibility.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scalability were baked into the architecture from day one. We leverage Google OAuth for seamless authentication, paired with fine-grained access control middleware to ensure member data remains protected while remaining available 24/7.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quantitative value is undeniable. We reduce distress notification times by over 95%, while creating a recurring revenue model through subscription tiers that cover ongoing cloud infrastructure costs without burdening the general fund.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devised a low-risk, 8-week phased implementation plan. By piloting the platform in selected regions first, we ensure all emergency dispatch channels and data workflows are fully stress-tested before full nationwide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resource requirements are modest and focused. Because the system is built on open-source web technologies, capital expenditure is minimized, requiring primarily cloud hosting enablement and regional secretarial support for account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Alalayang Agila elevates TFOE-PE into a modern, technologically empowered brotherhood. We request formal leadership approval today to launch Phase 1 immediately and begin securing our members nationwide. Thank you,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defRPr sz="1600" b="1">
                <a:solidFill>
                  <a:srgbClr val="D97706"/>
                </a:solidFill>
                <a:latin typeface="Calibri"/>
              </a:defRPr>
            </a:pPr>
            <a:r>
              <a:t>ALALAYANG AGILA PLATFORM</a:t>
            </a:r>
          </a:p>
          <a:p>
            <a:pPr>
              <a:spcBef>
                <a:spcPts val="1400"/>
              </a:spcBef>
              <a:defRPr sz="4400" b="1">
                <a:solidFill>
                  <a:srgbClr val="FFFFFF"/>
                </a:solidFill>
                <a:latin typeface="Calibri"/>
              </a:defRPr>
            </a:pPr>
            <a:r>
              <a:t>Digitizing Member Operations &amp;</a:t>
            </a:r>
            <a:br/>
            <a:r>
              <a:t>Accelerating Emergency Response</a:t>
            </a:r>
          </a:p>
          <a:p>
            <a:pPr>
              <a:spcBef>
                <a:spcPts val="2000"/>
              </a:spcBef>
              <a:defRPr sz="1800">
                <a:solidFill>
                  <a:srgbClr val="CBD5E1"/>
                </a:solidFill>
                <a:latin typeface="Calibri"/>
              </a:defRPr>
            </a:pPr>
            <a:r>
              <a:t>Executive Proposal &amp; Project Architecture for The Fraternal Order of Eagles (TFOE-PE)</a:t>
            </a:r>
          </a:p>
        </p:txBody>
      </p:sp>
      <p:sp>
        <p:nvSpPr>
          <p:cNvPr id="4" name="Rounded Rectangle 3"/>
          <p:cNvSpPr/>
          <p:nvPr/>
        </p:nvSpPr>
        <p:spPr>
          <a:xfrm>
            <a:off x="914400" y="5029200"/>
            <a:ext cx="3840480" cy="1005840"/>
          </a:xfrm>
          <a:prstGeom prst="roundRect">
            <a:avLst/>
          </a:prstGeom>
          <a:solidFill>
            <a:srgbClr val="0F2A4A"/>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5120640"/>
            <a:ext cx="3657600" cy="822960"/>
          </a:xfrm>
          <a:prstGeom prst="rect">
            <a:avLst/>
          </a:prstGeom>
          <a:noFill/>
        </p:spPr>
        <p:txBody>
          <a:bodyPr wrap="square">
            <a:spAutoFit/>
          </a:bodyPr>
          <a:lstStyle/>
          <a:p>
            <a:pPr>
              <a:defRPr sz="1100" b="1">
                <a:solidFill>
                  <a:srgbClr val="D97706"/>
                </a:solidFill>
              </a:defRPr>
            </a:pPr>
            <a:r>
              <a:t>KEY BENEFIT</a:t>
            </a:r>
          </a:p>
          <a:p>
            <a:pPr>
              <a:defRPr sz="1600" b="1">
                <a:solidFill>
                  <a:srgbClr val="FFFFFF"/>
                </a:solidFill>
              </a:defRPr>
            </a:pPr>
            <a:r>
              <a:t>&lt; 10 Second Emergency Dispatch Rate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OPERATIONAL CHALLENGES</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Overcoming Current Response &amp; Communication Bottlenecks</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02</a:t>
            </a:r>
          </a:p>
        </p:txBody>
      </p:sp>
      <p:sp>
        <p:nvSpPr>
          <p:cNvPr id="6" name="Rounded Rectangle 5"/>
          <p:cNvSpPr/>
          <p:nvPr/>
        </p:nvSpPr>
        <p:spPr>
          <a:xfrm>
            <a:off x="668901888000" y="1920240"/>
            <a:ext cx="304350359040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8902162320" y="2194560"/>
            <a:ext cx="1097280" cy="36576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defRPr>
            </a:pPr>
            <a:r>
              <a:t>GAP 01</a:t>
            </a:r>
          </a:p>
        </p:txBody>
      </p:sp>
      <p:sp>
        <p:nvSpPr>
          <p:cNvPr id="8" name="TextBox 7"/>
          <p:cNvSpPr txBox="1"/>
          <p:nvPr/>
        </p:nvSpPr>
        <p:spPr>
          <a:xfrm>
            <a:off x="668902162320" y="2743200"/>
            <a:ext cx="3043503041760" cy="3108960"/>
          </a:xfrm>
          <a:prstGeom prst="rect">
            <a:avLst/>
          </a:prstGeom>
          <a:noFill/>
        </p:spPr>
        <p:txBody>
          <a:bodyPr wrap="square">
            <a:spAutoFit/>
          </a:bodyPr>
          <a:lstStyle/>
          <a:p>
            <a:pPr>
              <a:defRPr sz="2000" b="1">
                <a:solidFill>
                  <a:srgbClr val="0B1F3A"/>
                </a:solidFill>
              </a:defRPr>
            </a:pPr>
            <a:r>
              <a:t>Siloed &amp; Delayed Emergency Alerts</a:t>
            </a:r>
          </a:p>
          <a:p>
            <a:pPr>
              <a:spcBef>
                <a:spcPts val="1200"/>
              </a:spcBef>
              <a:defRPr sz="1400">
                <a:solidFill>
                  <a:srgbClr val="475569"/>
                </a:solidFill>
              </a:defRPr>
            </a:pPr>
            <a:r>
              <a:t>Manual phone chains during medical, roadside, or disaster distress cause critical delays in dispatching immediate assistance to Kuyas in need.</a:t>
            </a:r>
          </a:p>
        </p:txBody>
      </p:sp>
      <p:sp>
        <p:nvSpPr>
          <p:cNvPr id="9" name="Rounded Rectangle 8"/>
          <p:cNvSpPr/>
          <p:nvPr/>
        </p:nvSpPr>
        <p:spPr>
          <a:xfrm>
            <a:off x="4046856422400" y="1920240"/>
            <a:ext cx="304350359040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46856696720" y="2194560"/>
            <a:ext cx="1097280" cy="36576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defRPr>
            </a:pPr>
            <a:r>
              <a:t>GAP 02</a:t>
            </a:r>
          </a:p>
        </p:txBody>
      </p:sp>
      <p:sp>
        <p:nvSpPr>
          <p:cNvPr id="11" name="TextBox 10"/>
          <p:cNvSpPr txBox="1"/>
          <p:nvPr/>
        </p:nvSpPr>
        <p:spPr>
          <a:xfrm>
            <a:off x="4046856696720" y="2743200"/>
            <a:ext cx="3043503041760" cy="3108960"/>
          </a:xfrm>
          <a:prstGeom prst="rect">
            <a:avLst/>
          </a:prstGeom>
          <a:noFill/>
        </p:spPr>
        <p:txBody>
          <a:bodyPr wrap="square">
            <a:spAutoFit/>
          </a:bodyPr>
          <a:lstStyle/>
          <a:p>
            <a:pPr>
              <a:defRPr sz="2000" b="1">
                <a:solidFill>
                  <a:srgbClr val="0B1F3A"/>
                </a:solidFill>
              </a:defRPr>
            </a:pPr>
            <a:r>
              <a:t>Fragmented Member Verification</a:t>
            </a:r>
          </a:p>
          <a:p>
            <a:pPr>
              <a:spcBef>
                <a:spcPts val="1200"/>
              </a:spcBef>
              <a:defRPr sz="1400">
                <a:solidFill>
                  <a:srgbClr val="475569"/>
                </a:solidFill>
              </a:defRPr>
            </a:pPr>
            <a:r>
              <a:t>Difficulty verifying active member status, regional assignments, and official leadership roles across scattered, unverified records.</a:t>
            </a:r>
          </a:p>
        </p:txBody>
      </p:sp>
      <p:sp>
        <p:nvSpPr>
          <p:cNvPr id="12" name="Rounded Rectangle 11"/>
          <p:cNvSpPr/>
          <p:nvPr/>
        </p:nvSpPr>
        <p:spPr>
          <a:xfrm>
            <a:off x="7424810956800" y="1920240"/>
            <a:ext cx="304350359040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24811231120" y="2194560"/>
            <a:ext cx="1097280" cy="36576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defRPr>
            </a:pPr>
            <a:r>
              <a:t>GAP 03</a:t>
            </a:r>
          </a:p>
        </p:txBody>
      </p:sp>
      <p:sp>
        <p:nvSpPr>
          <p:cNvPr id="14" name="TextBox 13"/>
          <p:cNvSpPr txBox="1"/>
          <p:nvPr/>
        </p:nvSpPr>
        <p:spPr>
          <a:xfrm>
            <a:off x="7424811231120" y="2743200"/>
            <a:ext cx="3043503041760" cy="3108960"/>
          </a:xfrm>
          <a:prstGeom prst="rect">
            <a:avLst/>
          </a:prstGeom>
          <a:noFill/>
        </p:spPr>
        <p:txBody>
          <a:bodyPr wrap="square">
            <a:spAutoFit/>
          </a:bodyPr>
          <a:lstStyle/>
          <a:p>
            <a:pPr>
              <a:defRPr sz="2000" b="1">
                <a:solidFill>
                  <a:srgbClr val="0B1F3A"/>
                </a:solidFill>
              </a:defRPr>
            </a:pPr>
            <a:r>
              <a:t>Communication Breakdown</a:t>
            </a:r>
          </a:p>
          <a:p>
            <a:pPr>
              <a:spcBef>
                <a:spcPts val="1200"/>
              </a:spcBef>
              <a:defRPr sz="1400">
                <a:solidFill>
                  <a:srgbClr val="475569"/>
                </a:solidFill>
              </a:defRPr>
            </a:pPr>
            <a:r>
              <a:t>Important national and regional policy directives get lost across fragmented third-party messaging apps with no audit trails or scoping.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SYSTEM OVERVIEW</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The Alalayang Agila Unified Platform Workflow</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03</a:t>
            </a:r>
          </a:p>
        </p:txBody>
      </p:sp>
      <p:sp>
        <p:nvSpPr>
          <p:cNvPr id="6" name="Rounded Rectangle 5"/>
          <p:cNvSpPr/>
          <p:nvPr/>
        </p:nvSpPr>
        <p:spPr>
          <a:xfrm>
            <a:off x="66890188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8902070880" y="2286000"/>
            <a:ext cx="2257543506240" cy="3474720"/>
          </a:xfrm>
          <a:prstGeom prst="rect">
            <a:avLst/>
          </a:prstGeom>
          <a:noFill/>
        </p:spPr>
        <p:txBody>
          <a:bodyPr wrap="square">
            <a:spAutoFit/>
          </a:bodyPr>
          <a:lstStyle/>
          <a:p>
            <a:pPr>
              <a:defRPr sz="1800" b="1">
                <a:solidFill>
                  <a:srgbClr val="0B1F3A"/>
                </a:solidFill>
              </a:defRPr>
            </a:pPr>
            <a:r>
              <a:t>01. Distress Signal</a:t>
            </a:r>
          </a:p>
          <a:p>
            <a:pPr>
              <a:spcBef>
                <a:spcPts val="1200"/>
              </a:spcBef>
              <a:defRPr sz="1300">
                <a:solidFill>
                  <a:srgbClr val="475569"/>
                </a:solidFill>
              </a:defRPr>
            </a:pPr>
            <a:r>
              <a:t>Member selects help category (Medical, Roadside, Relief) &amp; triggers request via mobile/web.</a:t>
            </a:r>
          </a:p>
        </p:txBody>
      </p:sp>
      <p:sp>
        <p:nvSpPr>
          <p:cNvPr id="8" name="Rounded Rectangle 7"/>
          <p:cNvSpPr/>
          <p:nvPr/>
        </p:nvSpPr>
        <p:spPr>
          <a:xfrm>
            <a:off x="317728396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7284150880" y="2286000"/>
            <a:ext cx="2257543506240" cy="3474720"/>
          </a:xfrm>
          <a:prstGeom prst="rect">
            <a:avLst/>
          </a:prstGeom>
          <a:noFill/>
        </p:spPr>
        <p:txBody>
          <a:bodyPr wrap="square">
            <a:spAutoFit/>
          </a:bodyPr>
          <a:lstStyle/>
          <a:p>
            <a:pPr>
              <a:defRPr sz="1800" b="1">
                <a:solidFill>
                  <a:srgbClr val="0B1F3A"/>
                </a:solidFill>
              </a:defRPr>
            </a:pPr>
            <a:r>
              <a:t>02. Geolocation Processing</a:t>
            </a:r>
          </a:p>
          <a:p>
            <a:pPr>
              <a:spcBef>
                <a:spcPts val="1200"/>
              </a:spcBef>
              <a:defRPr sz="1300">
                <a:solidFill>
                  <a:srgbClr val="475569"/>
                </a:solidFill>
              </a:defRPr>
            </a:pPr>
            <a:r>
              <a:t>System automatically captures GPS coordinates &amp; retrieves user region/club metadata.</a:t>
            </a:r>
          </a:p>
        </p:txBody>
      </p:sp>
      <p:sp>
        <p:nvSpPr>
          <p:cNvPr id="10" name="Rounded Rectangle 9"/>
          <p:cNvSpPr/>
          <p:nvPr/>
        </p:nvSpPr>
        <p:spPr>
          <a:xfrm>
            <a:off x="5685666048000" y="2103120"/>
            <a:ext cx="2257543872000" cy="384048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85666230880" y="2286000"/>
            <a:ext cx="2257543506240" cy="3474720"/>
          </a:xfrm>
          <a:prstGeom prst="rect">
            <a:avLst/>
          </a:prstGeom>
          <a:noFill/>
        </p:spPr>
        <p:txBody>
          <a:bodyPr wrap="square">
            <a:spAutoFit/>
          </a:bodyPr>
          <a:lstStyle/>
          <a:p>
            <a:pPr>
              <a:defRPr sz="1800" b="1">
                <a:solidFill>
                  <a:srgbClr val="2563EB"/>
                </a:solidFill>
              </a:defRPr>
            </a:pPr>
            <a:r>
              <a:t>03. Multi-Channel Dispatch</a:t>
            </a:r>
          </a:p>
          <a:p>
            <a:pPr>
              <a:spcBef>
                <a:spcPts val="1200"/>
              </a:spcBef>
              <a:defRPr sz="1300">
                <a:solidFill>
                  <a:srgbClr val="475569"/>
                </a:solidFill>
              </a:defRPr>
            </a:pPr>
            <a:r>
              <a:t>Automated Telegram Bot dispatches map pins &amp; photos alongside instant email broadcasts.</a:t>
            </a:r>
          </a:p>
        </p:txBody>
      </p:sp>
      <p:sp>
        <p:nvSpPr>
          <p:cNvPr id="12" name="Rounded Rectangle 11"/>
          <p:cNvSpPr/>
          <p:nvPr/>
        </p:nvSpPr>
        <p:spPr>
          <a:xfrm>
            <a:off x="819404812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4048310879" y="2286000"/>
            <a:ext cx="2257543506240" cy="3474720"/>
          </a:xfrm>
          <a:prstGeom prst="rect">
            <a:avLst/>
          </a:prstGeom>
          <a:noFill/>
        </p:spPr>
        <p:txBody>
          <a:bodyPr wrap="square">
            <a:spAutoFit/>
          </a:bodyPr>
          <a:lstStyle/>
          <a:p>
            <a:pPr>
              <a:defRPr sz="1800" b="1">
                <a:solidFill>
                  <a:srgbClr val="0B1F3A"/>
                </a:solidFill>
              </a:defRPr>
            </a:pPr>
            <a:r>
              <a:t>04. Regional Coordination</a:t>
            </a:r>
          </a:p>
          <a:p>
            <a:pPr>
              <a:spcBef>
                <a:spcPts val="1200"/>
              </a:spcBef>
              <a:defRPr sz="1300">
                <a:solidFill>
                  <a:srgbClr val="475569"/>
                </a:solidFill>
              </a:defRPr>
            </a:pPr>
            <a:r>
              <a:t>Regional responders and nearby Kuyas coordinate via integrated group chat &amp; direct messaging.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CORE CAPABILITIES</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Purpose-Built Modules for Operations &amp; Emergency Response</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04</a:t>
            </a:r>
          </a:p>
        </p:txBody>
      </p:sp>
      <p:sp>
        <p:nvSpPr>
          <p:cNvPr id="6" name="Rounded Rectangle 5"/>
          <p:cNvSpPr/>
          <p:nvPr/>
        </p:nvSpPr>
        <p:spPr>
          <a:xfrm>
            <a:off x="668901888000" y="1755867456000"/>
            <a:ext cx="4682313216000" cy="175586745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8902162320" y="1755867638880"/>
            <a:ext cx="4682312667360" cy="1755867090240"/>
          </a:xfrm>
          <a:prstGeom prst="rect">
            <a:avLst/>
          </a:prstGeom>
          <a:noFill/>
        </p:spPr>
        <p:txBody>
          <a:bodyPr wrap="square">
            <a:spAutoFit/>
          </a:bodyPr>
          <a:lstStyle/>
          <a:p>
            <a:pPr>
              <a:defRPr sz="1800" b="1">
                <a:solidFill>
                  <a:srgbClr val="0B1F3A"/>
                </a:solidFill>
              </a:defRPr>
            </a:pPr>
            <a:r>
              <a:t>🚨 Quick Response Engine</a:t>
            </a:r>
          </a:p>
          <a:p>
            <a:pPr>
              <a:spcBef>
                <a:spcPts val="800"/>
              </a:spcBef>
              <a:defRPr sz="1300">
                <a:solidFill>
                  <a:srgbClr val="475569"/>
                </a:solidFill>
              </a:defRPr>
            </a:pPr>
            <a:r>
              <a:t>Categorized emergency dispatch (Medical, Roadside, Financial, Relief) with automated Telegram channel map links &amp; email broadcasts.</a:t>
            </a:r>
          </a:p>
        </p:txBody>
      </p:sp>
      <p:sp>
        <p:nvSpPr>
          <p:cNvPr id="8" name="Rounded Rectangle 7"/>
          <p:cNvSpPr/>
          <p:nvPr/>
        </p:nvSpPr>
        <p:spPr>
          <a:xfrm>
            <a:off x="5769278784000" y="1755867456000"/>
            <a:ext cx="4682313216000" cy="175586745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9279058320" y="1755867638880"/>
            <a:ext cx="4682312667360" cy="1755867090240"/>
          </a:xfrm>
          <a:prstGeom prst="rect">
            <a:avLst/>
          </a:prstGeom>
          <a:noFill/>
        </p:spPr>
        <p:txBody>
          <a:bodyPr wrap="square">
            <a:spAutoFit/>
          </a:bodyPr>
          <a:lstStyle/>
          <a:p>
            <a:pPr>
              <a:defRPr sz="1800" b="1">
                <a:solidFill>
                  <a:srgbClr val="0B1F3A"/>
                </a:solidFill>
              </a:defRPr>
            </a:pPr>
            <a:r>
              <a:t>🔍 'Search Kuya' Directory Radar</a:t>
            </a:r>
          </a:p>
          <a:p>
            <a:pPr>
              <a:spcBef>
                <a:spcPts val="800"/>
              </a:spcBef>
              <a:defRPr sz="1300">
                <a:solidFill>
                  <a:srgbClr val="475569"/>
                </a:solidFill>
              </a:defRPr>
            </a:pPr>
            <a:r>
              <a:t>Multi-attribute member discovery searchable by Name, Region, Local Club, Profession, and Office assignment.</a:t>
            </a:r>
          </a:p>
        </p:txBody>
      </p:sp>
      <p:sp>
        <p:nvSpPr>
          <p:cNvPr id="10" name="Rounded Rectangle 9"/>
          <p:cNvSpPr/>
          <p:nvPr/>
        </p:nvSpPr>
        <p:spPr>
          <a:xfrm>
            <a:off x="668901888000" y="3762573120000"/>
            <a:ext cx="4682313216000" cy="175586745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8902162320" y="3762573302880"/>
            <a:ext cx="4682312667360" cy="1755867090240"/>
          </a:xfrm>
          <a:prstGeom prst="rect">
            <a:avLst/>
          </a:prstGeom>
          <a:noFill/>
        </p:spPr>
        <p:txBody>
          <a:bodyPr wrap="square">
            <a:spAutoFit/>
          </a:bodyPr>
          <a:lstStyle/>
          <a:p>
            <a:pPr>
              <a:defRPr sz="1800" b="1">
                <a:solidFill>
                  <a:srgbClr val="0B1F3A"/>
                </a:solidFill>
              </a:defRPr>
            </a:pPr>
            <a:r>
              <a:t>🏢 Dynamic Org Hierarchy Tree</a:t>
            </a:r>
          </a:p>
          <a:p>
            <a:pPr>
              <a:spcBef>
                <a:spcPts val="800"/>
              </a:spcBef>
              <a:defRPr sz="1300">
                <a:solidFill>
                  <a:srgbClr val="475569"/>
                </a:solidFill>
              </a:defRPr>
            </a:pPr>
            <a:r>
              <a:t>Nationwide interactive organizational tree mapping National Officers, Regional Governors, and Local Club Officers.</a:t>
            </a:r>
          </a:p>
        </p:txBody>
      </p:sp>
      <p:sp>
        <p:nvSpPr>
          <p:cNvPr id="12" name="Rounded Rectangle 11"/>
          <p:cNvSpPr/>
          <p:nvPr/>
        </p:nvSpPr>
        <p:spPr>
          <a:xfrm>
            <a:off x="5769278784000" y="3762573120000"/>
            <a:ext cx="4682313216000" cy="175586745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9279058320" y="3762573302880"/>
            <a:ext cx="4682312667360" cy="1755867090240"/>
          </a:xfrm>
          <a:prstGeom prst="rect">
            <a:avLst/>
          </a:prstGeom>
          <a:noFill/>
        </p:spPr>
        <p:txBody>
          <a:bodyPr wrap="square">
            <a:spAutoFit/>
          </a:bodyPr>
          <a:lstStyle/>
          <a:p>
            <a:pPr>
              <a:defRPr sz="1800" b="1">
                <a:solidFill>
                  <a:srgbClr val="0B1F3A"/>
                </a:solidFill>
              </a:defRPr>
            </a:pPr>
            <a:r>
              <a:t>📢 Scoped Announcement Engine</a:t>
            </a:r>
          </a:p>
          <a:p>
            <a:pPr>
              <a:spcBef>
                <a:spcPts val="800"/>
              </a:spcBef>
              <a:defRPr sz="1300">
                <a:solidFill>
                  <a:srgbClr val="475569"/>
                </a:solidFill>
              </a:defRPr>
            </a:pPr>
            <a:r>
              <a:t>Multi-tiered broadcast channels (Global, Regional, Club level) with structured member comment threads and feedback.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TECHNICAL RELIABILITY</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Enterprise System Architecture, Security &amp; Scalability</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05</a:t>
            </a:r>
          </a:p>
        </p:txBody>
      </p:sp>
      <p:sp>
        <p:nvSpPr>
          <p:cNvPr id="6" name="Rounded Rectangle 5"/>
          <p:cNvSpPr/>
          <p:nvPr/>
        </p:nvSpPr>
        <p:spPr>
          <a:xfrm>
            <a:off x="668901888000" y="1755867456000"/>
            <a:ext cx="9810282132000" cy="836127360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55867593160"/>
            <a:ext cx="9810281583360" cy="640080"/>
          </a:xfrm>
          <a:prstGeom prst="rect">
            <a:avLst/>
          </a:prstGeom>
          <a:noFill/>
        </p:spPr>
        <p:txBody>
          <a:bodyPr wrap="square">
            <a:spAutoFit/>
          </a:bodyPr>
          <a:lstStyle/>
          <a:p>
            <a:pPr>
              <a:defRPr sz="1300" b="1">
                <a:solidFill>
                  <a:srgbClr val="2563EB"/>
                </a:solidFill>
              </a:defRPr>
            </a:pPr>
            <a:r>
              <a:t>USER LAYER &amp; AUTH</a:t>
            </a:r>
          </a:p>
          <a:p>
            <a:pPr>
              <a:spcBef>
                <a:spcPts val="400"/>
              </a:spcBef>
              <a:defRPr sz="1400">
                <a:solidFill>
                  <a:srgbClr val="0F172A"/>
                </a:solidFill>
              </a:defRPr>
            </a:pPr>
            <a:r>
              <a:t>Google OAuth 2.0 Single Sign-On | Profile Verification | Digital Eagle ID Card Upload</a:t>
            </a:r>
          </a:p>
        </p:txBody>
      </p:sp>
      <p:sp>
        <p:nvSpPr>
          <p:cNvPr id="8" name="Rounded Rectangle 7"/>
          <p:cNvSpPr/>
          <p:nvPr/>
        </p:nvSpPr>
        <p:spPr>
          <a:xfrm>
            <a:off x="668901888000" y="2717413920000"/>
            <a:ext cx="9810282132000" cy="836127360000"/>
          </a:xfrm>
          <a:prstGeom prst="roundRect">
            <a:avLst/>
          </a:prstGeom>
          <a:solidFill>
            <a:srgbClr val="0B1F3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17414057160"/>
            <a:ext cx="9810281583360" cy="640080"/>
          </a:xfrm>
          <a:prstGeom prst="rect">
            <a:avLst/>
          </a:prstGeom>
          <a:noFill/>
        </p:spPr>
        <p:txBody>
          <a:bodyPr wrap="square">
            <a:spAutoFit/>
          </a:bodyPr>
          <a:lstStyle/>
          <a:p>
            <a:pPr>
              <a:defRPr sz="1300" b="1">
                <a:solidFill>
                  <a:srgbClr val="D97706"/>
                </a:solidFill>
              </a:defRPr>
            </a:pPr>
            <a:r>
              <a:t>APPLICATION CORE</a:t>
            </a:r>
          </a:p>
          <a:p>
            <a:pPr>
              <a:spcBef>
                <a:spcPts val="400"/>
              </a:spcBef>
              <a:defRPr sz="1400">
                <a:solidFill>
                  <a:srgbClr val="FFFFFF"/>
                </a:solidFill>
              </a:defRPr>
            </a:pPr>
            <a:r>
              <a:t>Laravel 11 (PHP 8.2+) | Eloquent ORM | Custom `user.ready` Middleware Security Pipeline</a:t>
            </a:r>
          </a:p>
        </p:txBody>
      </p:sp>
      <p:sp>
        <p:nvSpPr>
          <p:cNvPr id="10" name="Rounded Rectangle 9"/>
          <p:cNvSpPr/>
          <p:nvPr/>
        </p:nvSpPr>
        <p:spPr>
          <a:xfrm>
            <a:off x="668901888000" y="3678960384000"/>
            <a:ext cx="9810282132000" cy="836127360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678960521160"/>
            <a:ext cx="9810281583360" cy="640080"/>
          </a:xfrm>
          <a:prstGeom prst="rect">
            <a:avLst/>
          </a:prstGeom>
          <a:noFill/>
        </p:spPr>
        <p:txBody>
          <a:bodyPr wrap="square">
            <a:spAutoFit/>
          </a:bodyPr>
          <a:lstStyle/>
          <a:p>
            <a:pPr>
              <a:defRPr sz="1300" b="1">
                <a:solidFill>
                  <a:srgbClr val="2563EB"/>
                </a:solidFill>
              </a:defRPr>
            </a:pPr>
            <a:r>
              <a:t>INTEGRATIONS &amp; API</a:t>
            </a:r>
          </a:p>
          <a:p>
            <a:pPr>
              <a:spcBef>
                <a:spcPts val="400"/>
              </a:spcBef>
              <a:defRPr sz="1400">
                <a:solidFill>
                  <a:srgbClr val="0F172A"/>
                </a:solidFill>
              </a:defRPr>
            </a:pPr>
            <a:r>
              <a:t>Telegram Bot API (MarkdownV2 Geolocation) | Musonza Chat Engine | Mail Notification Services</a:t>
            </a:r>
          </a:p>
        </p:txBody>
      </p:sp>
      <p:sp>
        <p:nvSpPr>
          <p:cNvPr id="12" name="Rounded Rectangle 11"/>
          <p:cNvSpPr/>
          <p:nvPr/>
        </p:nvSpPr>
        <p:spPr>
          <a:xfrm>
            <a:off x="668901888000" y="4640506848000"/>
            <a:ext cx="9810282132000" cy="836127360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640506985160"/>
            <a:ext cx="9810281583360" cy="640080"/>
          </a:xfrm>
          <a:prstGeom prst="rect">
            <a:avLst/>
          </a:prstGeom>
          <a:noFill/>
        </p:spPr>
        <p:txBody>
          <a:bodyPr wrap="square">
            <a:spAutoFit/>
          </a:bodyPr>
          <a:lstStyle/>
          <a:p>
            <a:pPr>
              <a:defRPr sz="1300" b="1">
                <a:solidFill>
                  <a:srgbClr val="2563EB"/>
                </a:solidFill>
              </a:defRPr>
            </a:pPr>
            <a:r>
              <a:t>DATA &amp; GOVERNANCE</a:t>
            </a:r>
          </a:p>
          <a:p>
            <a:pPr>
              <a:spcBef>
                <a:spcPts val="400"/>
              </a:spcBef>
              <a:defRPr sz="1400">
                <a:solidFill>
                  <a:srgbClr val="0F172A"/>
                </a:solidFill>
              </a:defRPr>
            </a:pPr>
            <a:r>
              <a:t>MySQL Relational Database | Granular Role-Based Access Control (RBAC) | Subscription Gate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BUSINESS IMPACT</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Measurable Operational Improvements &amp; Financial Value</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06</a:t>
            </a:r>
          </a:p>
        </p:txBody>
      </p:sp>
      <p:sp>
        <p:nvSpPr>
          <p:cNvPr id="6" name="Rounded Rectangle 5"/>
          <p:cNvSpPr/>
          <p:nvPr/>
        </p:nvSpPr>
        <p:spPr>
          <a:xfrm>
            <a:off x="668901888000" y="2011680"/>
            <a:ext cx="2257543872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8902070880" y="2194560"/>
            <a:ext cx="2257543506240" cy="3566160"/>
          </a:xfrm>
          <a:prstGeom prst="rect">
            <a:avLst/>
          </a:prstGeom>
          <a:noFill/>
        </p:spPr>
        <p:txBody>
          <a:bodyPr wrap="square">
            <a:spAutoFit/>
          </a:bodyPr>
          <a:lstStyle/>
          <a:p>
            <a:pPr>
              <a:defRPr sz="2200" b="1">
                <a:solidFill>
                  <a:srgbClr val="2563EB"/>
                </a:solidFill>
              </a:defRPr>
            </a:pPr>
            <a:r>
              <a:t>&lt; 10 SECONDS</a:t>
            </a:r>
          </a:p>
          <a:p>
            <a:pPr>
              <a:spcBef>
                <a:spcPts val="600"/>
              </a:spcBef>
              <a:defRPr sz="1400" b="1">
                <a:solidFill>
                  <a:srgbClr val="0B1F3A"/>
                </a:solidFill>
              </a:defRPr>
            </a:pPr>
            <a:r>
              <a:t>Emergency Dispatch Rate</a:t>
            </a:r>
          </a:p>
          <a:p>
            <a:pPr>
              <a:spcBef>
                <a:spcPts val="1000"/>
              </a:spcBef>
              <a:defRPr sz="1200">
                <a:solidFill>
                  <a:srgbClr val="475569"/>
                </a:solidFill>
              </a:defRPr>
            </a:pPr>
            <a:r>
              <a:t>Replaces hours of manual phone chains with automated Telegram &amp; Email alerts.</a:t>
            </a:r>
          </a:p>
        </p:txBody>
      </p:sp>
      <p:sp>
        <p:nvSpPr>
          <p:cNvPr id="8" name="Rounded Rectangle 7"/>
          <p:cNvSpPr/>
          <p:nvPr/>
        </p:nvSpPr>
        <p:spPr>
          <a:xfrm>
            <a:off x="2293665242853888000" y="2011680"/>
            <a:ext cx="2257543872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93665242854071040" y="2194560"/>
            <a:ext cx="2257543506240" cy="3566160"/>
          </a:xfrm>
          <a:prstGeom prst="rect">
            <a:avLst/>
          </a:prstGeom>
          <a:noFill/>
        </p:spPr>
        <p:txBody>
          <a:bodyPr wrap="square">
            <a:spAutoFit/>
          </a:bodyPr>
          <a:lstStyle/>
          <a:p>
            <a:pPr>
              <a:defRPr sz="2200" b="1">
                <a:solidFill>
                  <a:srgbClr val="2563EB"/>
                </a:solidFill>
              </a:defRPr>
            </a:pPr>
            <a:r>
              <a:t>100% VERIFIED</a:t>
            </a:r>
          </a:p>
          <a:p>
            <a:pPr>
              <a:spcBef>
                <a:spcPts val="600"/>
              </a:spcBef>
              <a:defRPr sz="1400" b="1">
                <a:solidFill>
                  <a:srgbClr val="0B1F3A"/>
                </a:solidFill>
              </a:defRPr>
            </a:pPr>
            <a:r>
              <a:t>Member Identity &amp; Registry</a:t>
            </a:r>
          </a:p>
          <a:p>
            <a:pPr>
              <a:spcBef>
                <a:spcPts val="1000"/>
              </a:spcBef>
              <a:defRPr sz="1200">
                <a:solidFill>
                  <a:srgbClr val="475569"/>
                </a:solidFill>
              </a:defRPr>
            </a:pPr>
            <a:r>
              <a:t>Centralized profile approval workflow eliminates unverified credentials.</a:t>
            </a:r>
          </a:p>
        </p:txBody>
      </p:sp>
      <p:sp>
        <p:nvSpPr>
          <p:cNvPr id="10" name="Rounded Rectangle 9"/>
          <p:cNvSpPr/>
          <p:nvPr/>
        </p:nvSpPr>
        <p:spPr>
          <a:xfrm>
            <a:off x="4587329816805888000" y="2011680"/>
            <a:ext cx="2257543872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7329816806071296" y="2194560"/>
            <a:ext cx="2257543506240" cy="3566160"/>
          </a:xfrm>
          <a:prstGeom prst="rect">
            <a:avLst/>
          </a:prstGeom>
          <a:noFill/>
        </p:spPr>
        <p:txBody>
          <a:bodyPr wrap="square">
            <a:spAutoFit/>
          </a:bodyPr>
          <a:lstStyle/>
          <a:p>
            <a:pPr>
              <a:defRPr sz="2200" b="1">
                <a:solidFill>
                  <a:srgbClr val="2563EB"/>
                </a:solidFill>
              </a:defRPr>
            </a:pPr>
            <a:r>
              <a:t>3-TIER SCOPED</a:t>
            </a:r>
          </a:p>
          <a:p>
            <a:pPr>
              <a:spcBef>
                <a:spcPts val="600"/>
              </a:spcBef>
              <a:defRPr sz="1400" b="1">
                <a:solidFill>
                  <a:srgbClr val="0B1F3A"/>
                </a:solidFill>
              </a:defRPr>
            </a:pPr>
            <a:r>
              <a:t>Targeted Governance</a:t>
            </a:r>
          </a:p>
          <a:p>
            <a:pPr>
              <a:spcBef>
                <a:spcPts val="1000"/>
              </a:spcBef>
              <a:defRPr sz="1200">
                <a:solidFill>
                  <a:srgbClr val="475569"/>
                </a:solidFill>
              </a:defRPr>
            </a:pPr>
            <a:r>
              <a:t>Global, Regional, and Club communication channels with zero cross-noise.</a:t>
            </a:r>
          </a:p>
        </p:txBody>
      </p:sp>
      <p:sp>
        <p:nvSpPr>
          <p:cNvPr id="12" name="Rounded Rectangle 11"/>
          <p:cNvSpPr/>
          <p:nvPr/>
        </p:nvSpPr>
        <p:spPr>
          <a:xfrm>
            <a:off x="6880994390757888000" y="2011680"/>
            <a:ext cx="2257543872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0994390758071296" y="2194560"/>
            <a:ext cx="2257543506240" cy="3566160"/>
          </a:xfrm>
          <a:prstGeom prst="rect">
            <a:avLst/>
          </a:prstGeom>
          <a:noFill/>
        </p:spPr>
        <p:txBody>
          <a:bodyPr wrap="square">
            <a:spAutoFit/>
          </a:bodyPr>
          <a:lstStyle/>
          <a:p>
            <a:pPr>
              <a:defRPr sz="2200" b="1">
                <a:solidFill>
                  <a:srgbClr val="2563EB"/>
                </a:solidFill>
              </a:defRPr>
            </a:pPr>
            <a:r>
              <a:t>SELF-FUNDING</a:t>
            </a:r>
          </a:p>
          <a:p>
            <a:pPr>
              <a:spcBef>
                <a:spcPts val="600"/>
              </a:spcBef>
              <a:defRPr sz="1400" b="1">
                <a:solidFill>
                  <a:srgbClr val="0B1F3A"/>
                </a:solidFill>
              </a:defRPr>
            </a:pPr>
            <a:r>
              <a:t>Subscription Model</a:t>
            </a:r>
          </a:p>
          <a:p>
            <a:pPr>
              <a:spcBef>
                <a:spcPts val="1000"/>
              </a:spcBef>
              <a:defRPr sz="1200">
                <a:solidFill>
                  <a:srgbClr val="475569"/>
                </a:solidFill>
              </a:defRPr>
            </a:pPr>
            <a:r>
              <a:t>Integrated payment tracking covers cloud hosting &amp; continuous software maintenance.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EXECUTION STRATEGY</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Structured 8-Week Phased Implementation Roadmap</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07</a:t>
            </a:r>
          </a:p>
        </p:txBody>
      </p:sp>
      <p:sp>
        <p:nvSpPr>
          <p:cNvPr id="6" name="Rounded Rectangle 5"/>
          <p:cNvSpPr/>
          <p:nvPr/>
        </p:nvSpPr>
        <p:spPr>
          <a:xfrm>
            <a:off x="66890188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8902070880" y="2286000"/>
            <a:ext cx="2257543506240" cy="3474720"/>
          </a:xfrm>
          <a:prstGeom prst="rect">
            <a:avLst/>
          </a:prstGeom>
          <a:noFill/>
        </p:spPr>
        <p:txBody>
          <a:bodyPr wrap="square">
            <a:spAutoFit/>
          </a:bodyPr>
          <a:lstStyle/>
          <a:p>
            <a:pPr>
              <a:defRPr sz="1200" b="1">
                <a:solidFill>
                  <a:srgbClr val="D97706"/>
                </a:solidFill>
              </a:defRPr>
            </a:pPr>
            <a:r>
              <a:t>WEEKS 1–2</a:t>
            </a:r>
          </a:p>
          <a:p>
            <a:pPr>
              <a:spcBef>
                <a:spcPts val="400"/>
              </a:spcBef>
              <a:defRPr sz="1600" b="1">
                <a:solidFill>
                  <a:srgbClr val="0B1F3A"/>
                </a:solidFill>
              </a:defRPr>
            </a:pPr>
            <a:r>
              <a:t>Phase 1: Core &amp; Security Audit</a:t>
            </a:r>
          </a:p>
          <a:p>
            <a:pPr>
              <a:spcBef>
                <a:spcPts val="1000"/>
              </a:spcBef>
              <a:defRPr sz="1300">
                <a:solidFill>
                  <a:srgbClr val="475569"/>
                </a:solidFill>
              </a:defRPr>
            </a:pPr>
            <a:r>
              <a:t>Finalize RBAC permissions, environment configurations, and security verification.</a:t>
            </a:r>
          </a:p>
        </p:txBody>
      </p:sp>
      <p:sp>
        <p:nvSpPr>
          <p:cNvPr id="8" name="Rounded Rectangle 7"/>
          <p:cNvSpPr/>
          <p:nvPr/>
        </p:nvSpPr>
        <p:spPr>
          <a:xfrm>
            <a:off x="2293665242853888000" y="2103120"/>
            <a:ext cx="2257543872000" cy="384048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93665242854071040" y="2286000"/>
            <a:ext cx="2257543506240" cy="3474720"/>
          </a:xfrm>
          <a:prstGeom prst="rect">
            <a:avLst/>
          </a:prstGeom>
          <a:noFill/>
        </p:spPr>
        <p:txBody>
          <a:bodyPr wrap="square">
            <a:spAutoFit/>
          </a:bodyPr>
          <a:lstStyle/>
          <a:p>
            <a:pPr>
              <a:defRPr sz="1200" b="1">
                <a:solidFill>
                  <a:srgbClr val="D97706"/>
                </a:solidFill>
              </a:defRPr>
            </a:pPr>
            <a:r>
              <a:t>WEEKS 3–4</a:t>
            </a:r>
          </a:p>
          <a:p>
            <a:pPr>
              <a:spcBef>
                <a:spcPts val="400"/>
              </a:spcBef>
              <a:defRPr sz="1600" b="1">
                <a:solidFill>
                  <a:srgbClr val="0B1F3A"/>
                </a:solidFill>
              </a:defRPr>
            </a:pPr>
            <a:r>
              <a:t>Phase 2: Regional Pilot</a:t>
            </a:r>
          </a:p>
          <a:p>
            <a:pPr>
              <a:spcBef>
                <a:spcPts val="1000"/>
              </a:spcBef>
              <a:defRPr sz="1300">
                <a:solidFill>
                  <a:srgbClr val="475569"/>
                </a:solidFill>
              </a:defRPr>
            </a:pPr>
            <a:r>
              <a:t>Deploy to initial pilot regions, load officer libraries, and test Telegram dispatch.</a:t>
            </a:r>
          </a:p>
        </p:txBody>
      </p:sp>
      <p:sp>
        <p:nvSpPr>
          <p:cNvPr id="10" name="Rounded Rectangle 9"/>
          <p:cNvSpPr/>
          <p:nvPr/>
        </p:nvSpPr>
        <p:spPr>
          <a:xfrm>
            <a:off x="458732981680588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7329816806071296" y="2286000"/>
            <a:ext cx="2257543506240" cy="3474720"/>
          </a:xfrm>
          <a:prstGeom prst="rect">
            <a:avLst/>
          </a:prstGeom>
          <a:noFill/>
        </p:spPr>
        <p:txBody>
          <a:bodyPr wrap="square">
            <a:spAutoFit/>
          </a:bodyPr>
          <a:lstStyle/>
          <a:p>
            <a:pPr>
              <a:defRPr sz="1200" b="1">
                <a:solidFill>
                  <a:srgbClr val="D97706"/>
                </a:solidFill>
              </a:defRPr>
            </a:pPr>
            <a:r>
              <a:t>WEEKS 5–6</a:t>
            </a:r>
          </a:p>
          <a:p>
            <a:pPr>
              <a:spcBef>
                <a:spcPts val="400"/>
              </a:spcBef>
              <a:defRPr sz="1600" b="1">
                <a:solidFill>
                  <a:srgbClr val="0B1F3A"/>
                </a:solidFill>
              </a:defRPr>
            </a:pPr>
            <a:r>
              <a:t>Phase 3: Member Onboarding</a:t>
            </a:r>
          </a:p>
          <a:p>
            <a:pPr>
              <a:spcBef>
                <a:spcPts val="1000"/>
              </a:spcBef>
              <a:defRPr sz="1300">
                <a:solidFill>
                  <a:srgbClr val="475569"/>
                </a:solidFill>
              </a:defRPr>
            </a:pPr>
            <a:r>
              <a:t>Enable Google SSO nationwide, launch Search Kuya, and activate direct chat.</a:t>
            </a:r>
          </a:p>
        </p:txBody>
      </p:sp>
      <p:sp>
        <p:nvSpPr>
          <p:cNvPr id="12" name="Rounded Rectangle 11"/>
          <p:cNvSpPr/>
          <p:nvPr/>
        </p:nvSpPr>
        <p:spPr>
          <a:xfrm>
            <a:off x="6880994390757888000" y="2103120"/>
            <a:ext cx="2257543872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0994390758071296" y="2286000"/>
            <a:ext cx="2257543506240" cy="3474720"/>
          </a:xfrm>
          <a:prstGeom prst="rect">
            <a:avLst/>
          </a:prstGeom>
          <a:noFill/>
        </p:spPr>
        <p:txBody>
          <a:bodyPr wrap="square">
            <a:spAutoFit/>
          </a:bodyPr>
          <a:lstStyle/>
          <a:p>
            <a:pPr>
              <a:defRPr sz="1200" b="1">
                <a:solidFill>
                  <a:srgbClr val="D97706"/>
                </a:solidFill>
              </a:defRPr>
            </a:pPr>
            <a:r>
              <a:t>WEEKS 7–8</a:t>
            </a:r>
          </a:p>
          <a:p>
            <a:pPr>
              <a:spcBef>
                <a:spcPts val="400"/>
              </a:spcBef>
              <a:defRPr sz="1600" b="1">
                <a:solidFill>
                  <a:srgbClr val="0B1F3A"/>
                </a:solidFill>
              </a:defRPr>
            </a:pPr>
            <a:r>
              <a:t>Phase 4: Full Rollout &amp; Monetization</a:t>
            </a:r>
          </a:p>
          <a:p>
            <a:pPr>
              <a:spcBef>
                <a:spcPts val="1000"/>
              </a:spcBef>
              <a:defRPr sz="1300">
                <a:solidFill>
                  <a:srgbClr val="475569"/>
                </a:solidFill>
              </a:defRPr>
            </a:pPr>
            <a:r>
              <a:t>Activate subscription payments, complete announcement engine, and onboard all regions.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RESOURCE ALLOCATION</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Technical Infrastructure &amp; Operational Policy Support</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08</a:t>
            </a:r>
          </a:p>
        </p:txBody>
      </p:sp>
      <p:sp>
        <p:nvSpPr>
          <p:cNvPr id="6" name="Rounded Rectangle 5"/>
          <p:cNvSpPr/>
          <p:nvPr/>
        </p:nvSpPr>
        <p:spPr>
          <a:xfrm>
            <a:off x="668901888000" y="1839480192000"/>
            <a:ext cx="4682313216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94560"/>
            <a:ext cx="4682312667360" cy="3566160"/>
          </a:xfrm>
          <a:prstGeom prst="rect">
            <a:avLst/>
          </a:prstGeom>
          <a:noFill/>
        </p:spPr>
        <p:txBody>
          <a:bodyPr wrap="square">
            <a:spAutoFit/>
          </a:bodyPr>
          <a:lstStyle/>
          <a:p>
            <a:pPr>
              <a:defRPr sz="1600" b="1">
                <a:solidFill>
                  <a:srgbClr val="2563EB"/>
                </a:solidFill>
              </a:defRPr>
            </a:pPr>
            <a:r>
              <a:t>TECHNICAL INFRASTRUCTURE</a:t>
            </a:r>
          </a:p>
          <a:p>
            <a:pPr>
              <a:spcBef>
                <a:spcPts val="1000"/>
              </a:spcBef>
              <a:defRPr sz="1400">
                <a:solidFill>
                  <a:srgbClr val="0F172A"/>
                </a:solidFill>
              </a:defRPr>
            </a:pPr>
            <a:r>
              <a:t>• Production Web Hosting: Laragon / Linux VPS server setup</a:t>
            </a:r>
            <a:br/>
            <a:r>
              <a:t>• Domain &amp; SSL Security: Binding to tfoe-alalayangagila.org</a:t>
            </a:r>
            <a:br/>
            <a:r>
              <a:t>• Database &amp; Storage: MySQL database setup &amp; asset storage</a:t>
            </a:r>
            <a:br/>
            <a:r>
              <a:t>• Telegram API Integration: Dedicated bot token &amp; channel setup</a:t>
            </a:r>
          </a:p>
        </p:txBody>
      </p:sp>
      <p:sp>
        <p:nvSpPr>
          <p:cNvPr id="8" name="Rounded Rectangle 7"/>
          <p:cNvSpPr/>
          <p:nvPr/>
        </p:nvSpPr>
        <p:spPr>
          <a:xfrm>
            <a:off x="5769278784000" y="1839480192000"/>
            <a:ext cx="468231321600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194560"/>
            <a:ext cx="4682312667360" cy="3566160"/>
          </a:xfrm>
          <a:prstGeom prst="rect">
            <a:avLst/>
          </a:prstGeom>
          <a:noFill/>
        </p:spPr>
        <p:txBody>
          <a:bodyPr wrap="square">
            <a:spAutoFit/>
          </a:bodyPr>
          <a:lstStyle/>
          <a:p>
            <a:pPr>
              <a:defRPr sz="1600" b="1">
                <a:solidFill>
                  <a:srgbClr val="D97706"/>
                </a:solidFill>
              </a:defRPr>
            </a:pPr>
            <a:r>
              <a:t>GOVERNANCE &amp; POLICY SUPPORT</a:t>
            </a:r>
          </a:p>
          <a:p>
            <a:pPr>
              <a:spcBef>
                <a:spcPts val="1000"/>
              </a:spcBef>
              <a:defRPr sz="1400">
                <a:solidFill>
                  <a:srgbClr val="0F172A"/>
                </a:solidFill>
              </a:defRPr>
            </a:pPr>
            <a:r>
              <a:t>• Regional Verification Support: Regional Secretaries assigned to approve pending member profiles.</a:t>
            </a:r>
            <a:br/>
            <a:r>
              <a:t>• Official Policy Mandate: Leadership directive encouraging digital Eagle ID adoption.</a:t>
            </a:r>
            <a:br/>
            <a:r>
              <a:t>• Budget Efficiency: Open-source PHP/Laravel foundation minimizes third-party SaaS license costs.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9144000" cy="365760"/>
          </a:xfrm>
          <a:prstGeom prst="rect">
            <a:avLst/>
          </a:prstGeom>
          <a:noFill/>
        </p:spPr>
        <p:txBody>
          <a:bodyPr wrap="square">
            <a:spAutoFit/>
          </a:bodyPr>
          <a:lstStyle/>
          <a:p>
            <a:pPr>
              <a:defRPr sz="1300" b="1">
                <a:solidFill>
                  <a:srgbClr val="2563EB"/>
                </a:solidFill>
                <a:latin typeface="Calibri"/>
              </a:defRPr>
            </a:pPr>
            <a:r>
              <a:t>ACTION REQUESTED</a:t>
            </a:r>
          </a:p>
        </p:txBody>
      </p:sp>
      <p:sp>
        <p:nvSpPr>
          <p:cNvPr id="3" name="TextBox 2"/>
          <p:cNvSpPr txBox="1"/>
          <p:nvPr/>
        </p:nvSpPr>
        <p:spPr>
          <a:xfrm>
            <a:off x="731520" y="777240"/>
            <a:ext cx="10515600" cy="731520"/>
          </a:xfrm>
          <a:prstGeom prst="rect">
            <a:avLst/>
          </a:prstGeom>
          <a:noFill/>
        </p:spPr>
        <p:txBody>
          <a:bodyPr wrap="square">
            <a:spAutoFit/>
          </a:bodyPr>
          <a:lstStyle/>
          <a:p>
            <a:pPr>
              <a:defRPr sz="2800" b="1">
                <a:solidFill>
                  <a:srgbClr val="0B1F3A"/>
                </a:solidFill>
                <a:latin typeface="Calibri"/>
              </a:defRPr>
            </a:pPr>
            <a:r>
              <a:t>Securing Leadership Approval for Phase 1 Deployment</a:t>
            </a:r>
          </a:p>
        </p:txBody>
      </p:sp>
      <p:sp>
        <p:nvSpPr>
          <p:cNvPr id="4" name="Rectangle 3"/>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309360"/>
            <a:ext cx="548640" cy="365760"/>
          </a:xfrm>
          <a:prstGeom prst="rect">
            <a:avLst/>
          </a:prstGeom>
          <a:noFill/>
        </p:spPr>
        <p:txBody>
          <a:bodyPr wrap="none">
            <a:spAutoFit/>
          </a:bodyPr>
          <a:lstStyle/>
          <a:p>
            <a:pPr algn="r">
              <a:defRPr sz="1200">
                <a:solidFill>
                  <a:srgbClr val="475569"/>
                </a:solidFill>
                <a:latin typeface="Calibri"/>
              </a:defRPr>
            </a:pPr>
            <a:r>
              <a:t>09</a:t>
            </a:r>
          </a:p>
        </p:txBody>
      </p:sp>
      <p:sp>
        <p:nvSpPr>
          <p:cNvPr id="6" name="Rounded Rectangle 5"/>
          <p:cNvSpPr/>
          <p:nvPr/>
        </p:nvSpPr>
        <p:spPr>
          <a:xfrm>
            <a:off x="668901888000" y="1839480192000"/>
            <a:ext cx="9810282132000" cy="3595347648000"/>
          </a:xfrm>
          <a:prstGeom prst="roundRect">
            <a:avLst/>
          </a:prstGeom>
          <a:solidFill>
            <a:srgbClr val="0B1F3A"/>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10058400" cy="3383280"/>
          </a:xfrm>
          <a:prstGeom prst="rect">
            <a:avLst/>
          </a:prstGeom>
          <a:noFill/>
        </p:spPr>
        <p:txBody>
          <a:bodyPr wrap="square">
            <a:spAutoFit/>
          </a:bodyPr>
          <a:lstStyle/>
          <a:p>
            <a:pPr>
              <a:defRPr sz="1600" b="1">
                <a:solidFill>
                  <a:srgbClr val="D97706"/>
                </a:solidFill>
              </a:defRPr>
            </a:pPr>
            <a:r>
              <a:t>NEXT STEPS FOR PROJECT AUTHORIZATION</a:t>
            </a:r>
          </a:p>
          <a:p>
            <a:pPr>
              <a:spcBef>
                <a:spcPts val="1400"/>
              </a:spcBef>
              <a:defRPr sz="1800" b="1">
                <a:solidFill>
                  <a:srgbClr val="FFFFFF"/>
                </a:solidFill>
              </a:defRPr>
            </a:pPr>
            <a:r>
              <a:t>✔  1. Authorize Phase 1 deployment and production domain binding (tfoe-alalayangagila.org).</a:t>
            </a:r>
          </a:p>
          <a:p>
            <a:pPr>
              <a:spcBef>
                <a:spcPts val="1400"/>
              </a:spcBef>
              <a:defRPr sz="1800" b="1">
                <a:solidFill>
                  <a:srgbClr val="FFFFFF"/>
                </a:solidFill>
              </a:defRPr>
            </a:pPr>
            <a:r>
              <a:t>✔  2. Issue administrative guidelines for Regional Secretaries to verify pending member accounts.</a:t>
            </a:r>
          </a:p>
          <a:p>
            <a:pPr>
              <a:spcBef>
                <a:spcPts val="1400"/>
              </a:spcBef>
              <a:defRPr sz="1800" b="1">
                <a:solidFill>
                  <a:srgbClr val="FFFFFF"/>
                </a:solidFill>
              </a:defRPr>
            </a:pPr>
            <a:r>
              <a:t>✔  3. Formalize Telegram channel integration for emergency quick response dispatching.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